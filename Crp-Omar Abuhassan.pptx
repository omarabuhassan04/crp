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3748" y="781050"/>
            <a:ext cx="9592218" cy="479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78"/>
              </a:lnSpc>
            </a:pPr>
            <a:r>
              <a:rPr lang="en-US" sz="898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BIAS AND FAIRNESS IN AI ALGORITHMS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4679" y="1442420"/>
            <a:ext cx="15018641" cy="7402160"/>
            <a:chOff x="0" y="0"/>
            <a:chExt cx="3955527" cy="1949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5527" cy="1949540"/>
            </a:xfrm>
            <a:custGeom>
              <a:avLst/>
              <a:gdLst/>
              <a:ahLst/>
              <a:cxnLst/>
              <a:rect r="r" b="b" t="t" l="l"/>
              <a:pathLst>
                <a:path h="1949540" w="3955527">
                  <a:moveTo>
                    <a:pt x="26290" y="0"/>
                  </a:moveTo>
                  <a:lnTo>
                    <a:pt x="3929237" y="0"/>
                  </a:lnTo>
                  <a:cubicBezTo>
                    <a:pt x="3943757" y="0"/>
                    <a:pt x="3955527" y="11770"/>
                    <a:pt x="3955527" y="26290"/>
                  </a:cubicBezTo>
                  <a:lnTo>
                    <a:pt x="3955527" y="1923250"/>
                  </a:lnTo>
                  <a:cubicBezTo>
                    <a:pt x="3955527" y="1937770"/>
                    <a:pt x="3943757" y="1949540"/>
                    <a:pt x="3929237" y="1949540"/>
                  </a:cubicBezTo>
                  <a:lnTo>
                    <a:pt x="26290" y="1949540"/>
                  </a:lnTo>
                  <a:cubicBezTo>
                    <a:pt x="11770" y="1949540"/>
                    <a:pt x="0" y="1937770"/>
                    <a:pt x="0" y="1923250"/>
                  </a:cubicBezTo>
                  <a:lnTo>
                    <a:pt x="0" y="26290"/>
                  </a:lnTo>
                  <a:cubicBezTo>
                    <a:pt x="0" y="11770"/>
                    <a:pt x="11770" y="0"/>
                    <a:pt x="26290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955527" cy="200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070972" y="1519536"/>
            <a:ext cx="8146056" cy="259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27"/>
              </a:lnSpc>
            </a:pPr>
            <a:r>
              <a:rPr lang="en-US" b="true" sz="7233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7419" y="4278814"/>
            <a:ext cx="10713163" cy="415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25848" indent="-362924" lvl="1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Investigate AI bias &amp; fairness in decision-making.</a:t>
            </a:r>
          </a:p>
          <a:p>
            <a:pPr algn="ctr" marL="725848" indent="-362924" lvl="1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Identify sources of bias, assess fairness, propose solutions.</a:t>
            </a:r>
          </a:p>
          <a:p>
            <a:pPr algn="ctr" marL="725848" indent="-362924" lvl="1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Focus areas: Hiring, Predictive Policing, Risk Assessment.</a:t>
            </a:r>
          </a:p>
          <a:p>
            <a:pPr algn="ctr">
              <a:lnSpc>
                <a:spcPts val="470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39781"/>
            <a:ext cx="6152823" cy="266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74"/>
              </a:lnSpc>
            </a:pPr>
            <a:r>
              <a:rPr lang="en-US" sz="748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OBJECTIVES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451205"/>
            <a:ext cx="15644184" cy="5410639"/>
            <a:chOff x="0" y="0"/>
            <a:chExt cx="4120279" cy="14250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20279" cy="1425024"/>
            </a:xfrm>
            <a:custGeom>
              <a:avLst/>
              <a:gdLst/>
              <a:ahLst/>
              <a:cxnLst/>
              <a:rect r="r" b="b" t="t" l="l"/>
              <a:pathLst>
                <a:path h="1425024" w="4120279">
                  <a:moveTo>
                    <a:pt x="25239" y="0"/>
                  </a:moveTo>
                  <a:lnTo>
                    <a:pt x="4095040" y="0"/>
                  </a:lnTo>
                  <a:cubicBezTo>
                    <a:pt x="4108979" y="0"/>
                    <a:pt x="4120279" y="11300"/>
                    <a:pt x="4120279" y="25239"/>
                  </a:cubicBezTo>
                  <a:lnTo>
                    <a:pt x="4120279" y="1399786"/>
                  </a:lnTo>
                  <a:cubicBezTo>
                    <a:pt x="4120279" y="1413725"/>
                    <a:pt x="4108979" y="1425024"/>
                    <a:pt x="4095040" y="1425024"/>
                  </a:cubicBezTo>
                  <a:lnTo>
                    <a:pt x="25239" y="1425024"/>
                  </a:lnTo>
                  <a:cubicBezTo>
                    <a:pt x="11300" y="1425024"/>
                    <a:pt x="0" y="1413725"/>
                    <a:pt x="0" y="1399786"/>
                  </a:cubicBezTo>
                  <a:lnTo>
                    <a:pt x="0" y="25239"/>
                  </a:lnTo>
                  <a:cubicBezTo>
                    <a:pt x="0" y="11300"/>
                    <a:pt x="11300" y="0"/>
                    <a:pt x="2523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120279" cy="1482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98408" y="4618168"/>
            <a:ext cx="13988653" cy="297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🔍 Identify sources of bias in AI models.</a:t>
            </a:r>
          </a:p>
          <a:p>
            <a:pPr algn="l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📊 Evaluate fairness metrics in AI bias detection.</a:t>
            </a:r>
          </a:p>
          <a:p>
            <a:pPr algn="l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⚖️ Develop bias mitigation strategies without reducing accuracy.</a:t>
            </a:r>
          </a:p>
          <a:p>
            <a:pPr algn="l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🗣️ Explore stakeholder involvement in fairness discussions.</a:t>
            </a:r>
          </a:p>
          <a:p>
            <a:pPr algn="l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❗ Investigate limitations of fairness-aware AI models.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55343" y="2590772"/>
            <a:ext cx="5720133" cy="6667528"/>
            <a:chOff x="0" y="0"/>
            <a:chExt cx="1506537" cy="17560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06537" cy="1756057"/>
            </a:xfrm>
            <a:custGeom>
              <a:avLst/>
              <a:gdLst/>
              <a:ahLst/>
              <a:cxnLst/>
              <a:rect r="r" b="b" t="t" l="l"/>
              <a:pathLst>
                <a:path h="1756057" w="1506537">
                  <a:moveTo>
                    <a:pt x="69026" y="0"/>
                  </a:moveTo>
                  <a:lnTo>
                    <a:pt x="1437511" y="0"/>
                  </a:lnTo>
                  <a:cubicBezTo>
                    <a:pt x="1455818" y="0"/>
                    <a:pt x="1473375" y="7272"/>
                    <a:pt x="1486320" y="20217"/>
                  </a:cubicBezTo>
                  <a:cubicBezTo>
                    <a:pt x="1499265" y="33162"/>
                    <a:pt x="1506537" y="50719"/>
                    <a:pt x="1506537" y="69026"/>
                  </a:cubicBezTo>
                  <a:lnTo>
                    <a:pt x="1506537" y="1687031"/>
                  </a:lnTo>
                  <a:cubicBezTo>
                    <a:pt x="1506537" y="1705337"/>
                    <a:pt x="1499265" y="1722894"/>
                    <a:pt x="1486320" y="1735839"/>
                  </a:cubicBezTo>
                  <a:cubicBezTo>
                    <a:pt x="1473375" y="1748784"/>
                    <a:pt x="1455818" y="1756057"/>
                    <a:pt x="1437511" y="1756057"/>
                  </a:cubicBezTo>
                  <a:lnTo>
                    <a:pt x="69026" y="1756057"/>
                  </a:lnTo>
                  <a:cubicBezTo>
                    <a:pt x="50719" y="1756057"/>
                    <a:pt x="33162" y="1748784"/>
                    <a:pt x="20217" y="1735839"/>
                  </a:cubicBezTo>
                  <a:cubicBezTo>
                    <a:pt x="7272" y="1722894"/>
                    <a:pt x="0" y="1705337"/>
                    <a:pt x="0" y="1687031"/>
                  </a:cubicBezTo>
                  <a:lnTo>
                    <a:pt x="0" y="69026"/>
                  </a:lnTo>
                  <a:cubicBezTo>
                    <a:pt x="0" y="50719"/>
                    <a:pt x="7272" y="33162"/>
                    <a:pt x="20217" y="20217"/>
                  </a:cubicBezTo>
                  <a:cubicBezTo>
                    <a:pt x="33162" y="7272"/>
                    <a:pt x="50719" y="0"/>
                    <a:pt x="6902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506537" cy="1813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62536" y="2590772"/>
            <a:ext cx="5720133" cy="6667528"/>
            <a:chOff x="0" y="0"/>
            <a:chExt cx="1506537" cy="17560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6537" cy="1756057"/>
            </a:xfrm>
            <a:custGeom>
              <a:avLst/>
              <a:gdLst/>
              <a:ahLst/>
              <a:cxnLst/>
              <a:rect r="r" b="b" t="t" l="l"/>
              <a:pathLst>
                <a:path h="1756057" w="1506537">
                  <a:moveTo>
                    <a:pt x="69026" y="0"/>
                  </a:moveTo>
                  <a:lnTo>
                    <a:pt x="1437511" y="0"/>
                  </a:lnTo>
                  <a:cubicBezTo>
                    <a:pt x="1455818" y="0"/>
                    <a:pt x="1473375" y="7272"/>
                    <a:pt x="1486320" y="20217"/>
                  </a:cubicBezTo>
                  <a:cubicBezTo>
                    <a:pt x="1499265" y="33162"/>
                    <a:pt x="1506537" y="50719"/>
                    <a:pt x="1506537" y="69026"/>
                  </a:cubicBezTo>
                  <a:lnTo>
                    <a:pt x="1506537" y="1687031"/>
                  </a:lnTo>
                  <a:cubicBezTo>
                    <a:pt x="1506537" y="1705337"/>
                    <a:pt x="1499265" y="1722894"/>
                    <a:pt x="1486320" y="1735839"/>
                  </a:cubicBezTo>
                  <a:cubicBezTo>
                    <a:pt x="1473375" y="1748784"/>
                    <a:pt x="1455818" y="1756057"/>
                    <a:pt x="1437511" y="1756057"/>
                  </a:cubicBezTo>
                  <a:lnTo>
                    <a:pt x="69026" y="1756057"/>
                  </a:lnTo>
                  <a:cubicBezTo>
                    <a:pt x="50719" y="1756057"/>
                    <a:pt x="33162" y="1748784"/>
                    <a:pt x="20217" y="1735839"/>
                  </a:cubicBezTo>
                  <a:cubicBezTo>
                    <a:pt x="7272" y="1722894"/>
                    <a:pt x="0" y="1705337"/>
                    <a:pt x="0" y="1687031"/>
                  </a:cubicBezTo>
                  <a:lnTo>
                    <a:pt x="0" y="69026"/>
                  </a:lnTo>
                  <a:cubicBezTo>
                    <a:pt x="0" y="50719"/>
                    <a:pt x="7272" y="33162"/>
                    <a:pt x="20217" y="20217"/>
                  </a:cubicBezTo>
                  <a:cubicBezTo>
                    <a:pt x="33162" y="7272"/>
                    <a:pt x="50719" y="0"/>
                    <a:pt x="6902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506537" cy="1813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-34919"/>
            <a:ext cx="9645204" cy="196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b="true" sz="5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SOURCES OF DATA &amp; COLLECTION METHODS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62536" y="5067300"/>
            <a:ext cx="5720133" cy="154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Primary Data: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📝 Expert Interviews with AI specialists on bias mitigation.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16900" y="5067300"/>
            <a:ext cx="6042400" cy="257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Secondary Data: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📊 COMPAS dataset (criminal justice bias study).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📚 Research papers &amp; case studies.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4917" y="161855"/>
            <a:ext cx="9662228" cy="269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96"/>
              </a:lnSpc>
            </a:pPr>
            <a:r>
              <a:rPr lang="en-US" sz="756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ANALYSIS TOOLS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38769" y="4169265"/>
            <a:ext cx="4803418" cy="3791285"/>
            <a:chOff x="0" y="0"/>
            <a:chExt cx="1553952" cy="12265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952" cy="1226517"/>
            </a:xfrm>
            <a:custGeom>
              <a:avLst/>
              <a:gdLst/>
              <a:ahLst/>
              <a:cxnLst/>
              <a:rect r="r" b="b" t="t" l="l"/>
              <a:pathLst>
                <a:path h="1226517" w="1553952">
                  <a:moveTo>
                    <a:pt x="82199" y="0"/>
                  </a:moveTo>
                  <a:lnTo>
                    <a:pt x="1471752" y="0"/>
                  </a:lnTo>
                  <a:cubicBezTo>
                    <a:pt x="1517150" y="0"/>
                    <a:pt x="1553952" y="36802"/>
                    <a:pt x="1553952" y="82199"/>
                  </a:cubicBezTo>
                  <a:lnTo>
                    <a:pt x="1553952" y="1144317"/>
                  </a:lnTo>
                  <a:cubicBezTo>
                    <a:pt x="1553952" y="1189715"/>
                    <a:pt x="1517150" y="1226517"/>
                    <a:pt x="1471752" y="1226517"/>
                  </a:cubicBezTo>
                  <a:lnTo>
                    <a:pt x="82199" y="1226517"/>
                  </a:lnTo>
                  <a:cubicBezTo>
                    <a:pt x="36802" y="1226517"/>
                    <a:pt x="0" y="1189715"/>
                    <a:pt x="0" y="1144317"/>
                  </a:cubicBezTo>
                  <a:lnTo>
                    <a:pt x="0" y="82199"/>
                  </a:lnTo>
                  <a:cubicBezTo>
                    <a:pt x="0" y="36802"/>
                    <a:pt x="36802" y="0"/>
                    <a:pt x="821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553952" cy="128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145784" y="4169265"/>
            <a:ext cx="4803418" cy="3791285"/>
            <a:chOff x="0" y="0"/>
            <a:chExt cx="1553952" cy="12265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3952" cy="1226517"/>
            </a:xfrm>
            <a:custGeom>
              <a:avLst/>
              <a:gdLst/>
              <a:ahLst/>
              <a:cxnLst/>
              <a:rect r="r" b="b" t="t" l="l"/>
              <a:pathLst>
                <a:path h="1226517" w="1553952">
                  <a:moveTo>
                    <a:pt x="82199" y="0"/>
                  </a:moveTo>
                  <a:lnTo>
                    <a:pt x="1471752" y="0"/>
                  </a:lnTo>
                  <a:cubicBezTo>
                    <a:pt x="1517150" y="0"/>
                    <a:pt x="1553952" y="36802"/>
                    <a:pt x="1553952" y="82199"/>
                  </a:cubicBezTo>
                  <a:lnTo>
                    <a:pt x="1553952" y="1144317"/>
                  </a:lnTo>
                  <a:cubicBezTo>
                    <a:pt x="1553952" y="1189715"/>
                    <a:pt x="1517150" y="1226517"/>
                    <a:pt x="1471752" y="1226517"/>
                  </a:cubicBezTo>
                  <a:lnTo>
                    <a:pt x="82199" y="1226517"/>
                  </a:lnTo>
                  <a:cubicBezTo>
                    <a:pt x="36802" y="1226517"/>
                    <a:pt x="0" y="1189715"/>
                    <a:pt x="0" y="1144317"/>
                  </a:cubicBezTo>
                  <a:lnTo>
                    <a:pt x="0" y="82199"/>
                  </a:lnTo>
                  <a:cubicBezTo>
                    <a:pt x="0" y="36802"/>
                    <a:pt x="36802" y="0"/>
                    <a:pt x="821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553952" cy="128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42291" y="6064908"/>
            <a:ext cx="4803418" cy="3791285"/>
            <a:chOff x="0" y="0"/>
            <a:chExt cx="1553952" cy="12265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3952" cy="1226517"/>
            </a:xfrm>
            <a:custGeom>
              <a:avLst/>
              <a:gdLst/>
              <a:ahLst/>
              <a:cxnLst/>
              <a:rect r="r" b="b" t="t" l="l"/>
              <a:pathLst>
                <a:path h="1226517" w="1553952">
                  <a:moveTo>
                    <a:pt x="82199" y="0"/>
                  </a:moveTo>
                  <a:lnTo>
                    <a:pt x="1471752" y="0"/>
                  </a:lnTo>
                  <a:cubicBezTo>
                    <a:pt x="1517150" y="0"/>
                    <a:pt x="1553952" y="36802"/>
                    <a:pt x="1553952" y="82199"/>
                  </a:cubicBezTo>
                  <a:lnTo>
                    <a:pt x="1553952" y="1144317"/>
                  </a:lnTo>
                  <a:cubicBezTo>
                    <a:pt x="1553952" y="1189715"/>
                    <a:pt x="1517150" y="1226517"/>
                    <a:pt x="1471752" y="1226517"/>
                  </a:cubicBezTo>
                  <a:lnTo>
                    <a:pt x="82199" y="1226517"/>
                  </a:lnTo>
                  <a:cubicBezTo>
                    <a:pt x="36802" y="1226517"/>
                    <a:pt x="0" y="1189715"/>
                    <a:pt x="0" y="1144317"/>
                  </a:cubicBezTo>
                  <a:lnTo>
                    <a:pt x="0" y="82199"/>
                  </a:lnTo>
                  <a:cubicBezTo>
                    <a:pt x="0" y="36802"/>
                    <a:pt x="36802" y="0"/>
                    <a:pt x="821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553952" cy="128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42291" y="1614915"/>
            <a:ext cx="4803418" cy="3791285"/>
            <a:chOff x="0" y="0"/>
            <a:chExt cx="1553952" cy="12265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53952" cy="1226517"/>
            </a:xfrm>
            <a:custGeom>
              <a:avLst/>
              <a:gdLst/>
              <a:ahLst/>
              <a:cxnLst/>
              <a:rect r="r" b="b" t="t" l="l"/>
              <a:pathLst>
                <a:path h="1226517" w="1553952">
                  <a:moveTo>
                    <a:pt x="82199" y="0"/>
                  </a:moveTo>
                  <a:lnTo>
                    <a:pt x="1471752" y="0"/>
                  </a:lnTo>
                  <a:cubicBezTo>
                    <a:pt x="1517150" y="0"/>
                    <a:pt x="1553952" y="36802"/>
                    <a:pt x="1553952" y="82199"/>
                  </a:cubicBezTo>
                  <a:lnTo>
                    <a:pt x="1553952" y="1144317"/>
                  </a:lnTo>
                  <a:cubicBezTo>
                    <a:pt x="1553952" y="1189715"/>
                    <a:pt x="1517150" y="1226517"/>
                    <a:pt x="1471752" y="1226517"/>
                  </a:cubicBezTo>
                  <a:lnTo>
                    <a:pt x="82199" y="1226517"/>
                  </a:lnTo>
                  <a:cubicBezTo>
                    <a:pt x="36802" y="1226517"/>
                    <a:pt x="0" y="1189715"/>
                    <a:pt x="0" y="1144317"/>
                  </a:cubicBezTo>
                  <a:lnTo>
                    <a:pt x="0" y="82199"/>
                  </a:lnTo>
                  <a:cubicBezTo>
                    <a:pt x="0" y="36802"/>
                    <a:pt x="36802" y="0"/>
                    <a:pt x="821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553952" cy="128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38769" y="5679463"/>
            <a:ext cx="4803418" cy="1031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📊 Statistical Analysis: Pandas, NumPy, SciPy.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42291" y="2782225"/>
            <a:ext cx="4803418" cy="205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🤖 Machine Learning Models: Logistic Regression, KNN, Ridge Classifier.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24202" y="7149655"/>
            <a:ext cx="4439596" cy="154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📏 Fairness Metrics: Demographic parity, Equal Opportunity.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45784" y="5679463"/>
            <a:ext cx="4803418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📈 Visualization: Matplotlib, Seaborn.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9468" y="3330342"/>
            <a:ext cx="16228313" cy="6354422"/>
            <a:chOff x="0" y="0"/>
            <a:chExt cx="5250014" cy="20557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50014" cy="2055716"/>
            </a:xfrm>
            <a:custGeom>
              <a:avLst/>
              <a:gdLst/>
              <a:ahLst/>
              <a:cxnLst/>
              <a:rect r="r" b="b" t="t" l="l"/>
              <a:pathLst>
                <a:path h="2055716" w="5250014">
                  <a:moveTo>
                    <a:pt x="24330" y="0"/>
                  </a:moveTo>
                  <a:lnTo>
                    <a:pt x="5225684" y="0"/>
                  </a:lnTo>
                  <a:cubicBezTo>
                    <a:pt x="5232136" y="0"/>
                    <a:pt x="5238325" y="2563"/>
                    <a:pt x="5242888" y="7126"/>
                  </a:cubicBezTo>
                  <a:cubicBezTo>
                    <a:pt x="5247451" y="11689"/>
                    <a:pt x="5250014" y="17877"/>
                    <a:pt x="5250014" y="24330"/>
                  </a:cubicBezTo>
                  <a:lnTo>
                    <a:pt x="5250014" y="2031386"/>
                  </a:lnTo>
                  <a:cubicBezTo>
                    <a:pt x="5250014" y="2037839"/>
                    <a:pt x="5247451" y="2044027"/>
                    <a:pt x="5242888" y="2048590"/>
                  </a:cubicBezTo>
                  <a:cubicBezTo>
                    <a:pt x="5238325" y="2053153"/>
                    <a:pt x="5232136" y="2055716"/>
                    <a:pt x="5225684" y="2055716"/>
                  </a:cubicBezTo>
                  <a:lnTo>
                    <a:pt x="24330" y="2055716"/>
                  </a:lnTo>
                  <a:cubicBezTo>
                    <a:pt x="17877" y="2055716"/>
                    <a:pt x="11689" y="2053153"/>
                    <a:pt x="7126" y="2048590"/>
                  </a:cubicBezTo>
                  <a:cubicBezTo>
                    <a:pt x="2563" y="2044027"/>
                    <a:pt x="0" y="2037839"/>
                    <a:pt x="0" y="2031386"/>
                  </a:cubicBezTo>
                  <a:lnTo>
                    <a:pt x="0" y="24330"/>
                  </a:lnTo>
                  <a:cubicBezTo>
                    <a:pt x="0" y="17877"/>
                    <a:pt x="2563" y="11689"/>
                    <a:pt x="7126" y="7126"/>
                  </a:cubicBezTo>
                  <a:cubicBezTo>
                    <a:pt x="11689" y="2563"/>
                    <a:pt x="17877" y="0"/>
                    <a:pt x="24330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250014" cy="2112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82093" y="398574"/>
            <a:ext cx="5177767" cy="280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b="true" sz="60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MAIN FINDINGS &amp;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4574" y="4083377"/>
            <a:ext cx="14927463" cy="4743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⚠️ Racial Bias: African Americans flagged 1.5x more as "high risk."</a:t>
            </a:r>
          </a:p>
          <a:p>
            <a:pPr algn="ctr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⚖️ Gender Bias: Women received lower risk scores regardless of similar records.</a:t>
            </a:r>
          </a:p>
          <a:p>
            <a:pPr algn="l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🎯 Accuracy Disparity: True Positive Rate (TPR) for African Americans 15% lower than Caucasians.</a:t>
            </a:r>
          </a:p>
          <a:p>
            <a:pPr algn="ctr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🏆 Fairness Metrics: Bias reduction led to minor trade-offs in accuracy.</a:t>
            </a:r>
          </a:p>
          <a:p>
            <a:pPr algn="ctr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💡 Expert Insights: Transparency &amp; fairness audits are critical.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08956" y="2800286"/>
            <a:ext cx="14862783" cy="6870323"/>
            <a:chOff x="0" y="0"/>
            <a:chExt cx="4808252" cy="22226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08252" cy="2222615"/>
            </a:xfrm>
            <a:custGeom>
              <a:avLst/>
              <a:gdLst/>
              <a:ahLst/>
              <a:cxnLst/>
              <a:rect r="r" b="b" t="t" l="l"/>
              <a:pathLst>
                <a:path h="2222615" w="4808252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2196049"/>
                  </a:lnTo>
                  <a:cubicBezTo>
                    <a:pt x="4808252" y="2203095"/>
                    <a:pt x="4805454" y="2209852"/>
                    <a:pt x="4800471" y="2214834"/>
                  </a:cubicBezTo>
                  <a:cubicBezTo>
                    <a:pt x="4795489" y="2219816"/>
                    <a:pt x="4788733" y="2222615"/>
                    <a:pt x="4781687" y="2222615"/>
                  </a:cubicBezTo>
                  <a:lnTo>
                    <a:pt x="26566" y="2222615"/>
                  </a:lnTo>
                  <a:cubicBezTo>
                    <a:pt x="19520" y="2222615"/>
                    <a:pt x="12763" y="2219816"/>
                    <a:pt x="7781" y="2214834"/>
                  </a:cubicBezTo>
                  <a:cubicBezTo>
                    <a:pt x="2799" y="2209852"/>
                    <a:pt x="0" y="2203095"/>
                    <a:pt x="0" y="2196049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08252" cy="2279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4661" y="386816"/>
            <a:ext cx="9085687" cy="1102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6"/>
              </a:lnSpc>
            </a:pPr>
            <a:r>
              <a:rPr lang="en-US" b="true" sz="60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13015" y="3989512"/>
            <a:ext cx="14525699" cy="356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✔️ Data Preprocessing: Balance datasets (reweighting, remove biased correlations).</a:t>
            </a:r>
          </a:p>
          <a:p>
            <a:pPr algn="l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✔️ Fairness-Conscious Training: Apply fairness constraints.</a:t>
            </a:r>
          </a:p>
          <a:p>
            <a:pPr algn="l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✔️ Post-Processing Adjustments: Modify decision thresholds.</a:t>
            </a:r>
          </a:p>
          <a:p>
            <a:pPr algn="l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✔️ Stakeholder Engagement: Define fairness collaboratively.</a:t>
            </a:r>
          </a:p>
          <a:p>
            <a:pPr algn="l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✔️ Continuous Monitoring: Conduct fairness audits.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701672" y="2468666"/>
            <a:ext cx="5255966" cy="7279297"/>
            <a:chOff x="0" y="0"/>
            <a:chExt cx="1700355" cy="23549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00355" cy="2354922"/>
            </a:xfrm>
            <a:custGeom>
              <a:avLst/>
              <a:gdLst/>
              <a:ahLst/>
              <a:cxnLst/>
              <a:rect r="r" b="b" t="t" l="l"/>
              <a:pathLst>
                <a:path h="2354922" w="1700355">
                  <a:moveTo>
                    <a:pt x="75122" y="0"/>
                  </a:moveTo>
                  <a:lnTo>
                    <a:pt x="1625233" y="0"/>
                  </a:lnTo>
                  <a:cubicBezTo>
                    <a:pt x="1645157" y="0"/>
                    <a:pt x="1664264" y="7915"/>
                    <a:pt x="1678352" y="22003"/>
                  </a:cubicBezTo>
                  <a:cubicBezTo>
                    <a:pt x="1692440" y="36091"/>
                    <a:pt x="1700355" y="55198"/>
                    <a:pt x="1700355" y="75122"/>
                  </a:cubicBezTo>
                  <a:lnTo>
                    <a:pt x="1700355" y="2279800"/>
                  </a:lnTo>
                  <a:cubicBezTo>
                    <a:pt x="1700355" y="2299724"/>
                    <a:pt x="1692440" y="2318831"/>
                    <a:pt x="1678352" y="2332919"/>
                  </a:cubicBezTo>
                  <a:cubicBezTo>
                    <a:pt x="1664264" y="2347008"/>
                    <a:pt x="1645157" y="2354922"/>
                    <a:pt x="1625233" y="2354922"/>
                  </a:cubicBezTo>
                  <a:lnTo>
                    <a:pt x="75122" y="2354922"/>
                  </a:lnTo>
                  <a:cubicBezTo>
                    <a:pt x="55198" y="2354922"/>
                    <a:pt x="36091" y="2347008"/>
                    <a:pt x="22003" y="2332919"/>
                  </a:cubicBezTo>
                  <a:cubicBezTo>
                    <a:pt x="7915" y="2318831"/>
                    <a:pt x="0" y="2299724"/>
                    <a:pt x="0" y="2279800"/>
                  </a:cubicBezTo>
                  <a:lnTo>
                    <a:pt x="0" y="75122"/>
                  </a:lnTo>
                  <a:cubicBezTo>
                    <a:pt x="0" y="55198"/>
                    <a:pt x="7915" y="36091"/>
                    <a:pt x="22003" y="22003"/>
                  </a:cubicBezTo>
                  <a:cubicBezTo>
                    <a:pt x="36091" y="7915"/>
                    <a:pt x="55198" y="0"/>
                    <a:pt x="75122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700355" cy="24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243483" y="137147"/>
            <a:ext cx="9085687" cy="2179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6"/>
              </a:lnSpc>
            </a:pPr>
            <a:r>
              <a:rPr lang="en-US" b="true" sz="60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ACTION PLAN FOR IMPROVEMENTS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64682" y="2468666"/>
            <a:ext cx="5255966" cy="7279297"/>
            <a:chOff x="0" y="0"/>
            <a:chExt cx="1700355" cy="23549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0355" cy="2354922"/>
            </a:xfrm>
            <a:custGeom>
              <a:avLst/>
              <a:gdLst/>
              <a:ahLst/>
              <a:cxnLst/>
              <a:rect r="r" b="b" t="t" l="l"/>
              <a:pathLst>
                <a:path h="2354922" w="1700355">
                  <a:moveTo>
                    <a:pt x="75122" y="0"/>
                  </a:moveTo>
                  <a:lnTo>
                    <a:pt x="1625233" y="0"/>
                  </a:lnTo>
                  <a:cubicBezTo>
                    <a:pt x="1645157" y="0"/>
                    <a:pt x="1664264" y="7915"/>
                    <a:pt x="1678352" y="22003"/>
                  </a:cubicBezTo>
                  <a:cubicBezTo>
                    <a:pt x="1692440" y="36091"/>
                    <a:pt x="1700355" y="55198"/>
                    <a:pt x="1700355" y="75122"/>
                  </a:cubicBezTo>
                  <a:lnTo>
                    <a:pt x="1700355" y="2279800"/>
                  </a:lnTo>
                  <a:cubicBezTo>
                    <a:pt x="1700355" y="2299724"/>
                    <a:pt x="1692440" y="2318831"/>
                    <a:pt x="1678352" y="2332919"/>
                  </a:cubicBezTo>
                  <a:cubicBezTo>
                    <a:pt x="1664264" y="2347008"/>
                    <a:pt x="1645157" y="2354922"/>
                    <a:pt x="1625233" y="2354922"/>
                  </a:cubicBezTo>
                  <a:lnTo>
                    <a:pt x="75122" y="2354922"/>
                  </a:lnTo>
                  <a:cubicBezTo>
                    <a:pt x="55198" y="2354922"/>
                    <a:pt x="36091" y="2347008"/>
                    <a:pt x="22003" y="2332919"/>
                  </a:cubicBezTo>
                  <a:cubicBezTo>
                    <a:pt x="7915" y="2318831"/>
                    <a:pt x="0" y="2299724"/>
                    <a:pt x="0" y="2279800"/>
                  </a:cubicBezTo>
                  <a:lnTo>
                    <a:pt x="0" y="75122"/>
                  </a:lnTo>
                  <a:cubicBezTo>
                    <a:pt x="0" y="55198"/>
                    <a:pt x="7915" y="36091"/>
                    <a:pt x="22003" y="22003"/>
                  </a:cubicBezTo>
                  <a:cubicBezTo>
                    <a:pt x="36091" y="7915"/>
                    <a:pt x="55198" y="0"/>
                    <a:pt x="75122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0355" cy="24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7691" y="2468666"/>
            <a:ext cx="5255966" cy="7279297"/>
            <a:chOff x="0" y="0"/>
            <a:chExt cx="1700355" cy="23549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0355" cy="2354922"/>
            </a:xfrm>
            <a:custGeom>
              <a:avLst/>
              <a:gdLst/>
              <a:ahLst/>
              <a:cxnLst/>
              <a:rect r="r" b="b" t="t" l="l"/>
              <a:pathLst>
                <a:path h="2354922" w="1700355">
                  <a:moveTo>
                    <a:pt x="75122" y="0"/>
                  </a:moveTo>
                  <a:lnTo>
                    <a:pt x="1625233" y="0"/>
                  </a:lnTo>
                  <a:cubicBezTo>
                    <a:pt x="1645157" y="0"/>
                    <a:pt x="1664264" y="7915"/>
                    <a:pt x="1678352" y="22003"/>
                  </a:cubicBezTo>
                  <a:cubicBezTo>
                    <a:pt x="1692440" y="36091"/>
                    <a:pt x="1700355" y="55198"/>
                    <a:pt x="1700355" y="75122"/>
                  </a:cubicBezTo>
                  <a:lnTo>
                    <a:pt x="1700355" y="2279800"/>
                  </a:lnTo>
                  <a:cubicBezTo>
                    <a:pt x="1700355" y="2299724"/>
                    <a:pt x="1692440" y="2318831"/>
                    <a:pt x="1678352" y="2332919"/>
                  </a:cubicBezTo>
                  <a:cubicBezTo>
                    <a:pt x="1664264" y="2347008"/>
                    <a:pt x="1645157" y="2354922"/>
                    <a:pt x="1625233" y="2354922"/>
                  </a:cubicBezTo>
                  <a:lnTo>
                    <a:pt x="75122" y="2354922"/>
                  </a:lnTo>
                  <a:cubicBezTo>
                    <a:pt x="55198" y="2354922"/>
                    <a:pt x="36091" y="2347008"/>
                    <a:pt x="22003" y="2332919"/>
                  </a:cubicBezTo>
                  <a:cubicBezTo>
                    <a:pt x="7915" y="2318831"/>
                    <a:pt x="0" y="2299724"/>
                    <a:pt x="0" y="2279800"/>
                  </a:cubicBezTo>
                  <a:lnTo>
                    <a:pt x="0" y="75122"/>
                  </a:lnTo>
                  <a:cubicBezTo>
                    <a:pt x="0" y="55198"/>
                    <a:pt x="7915" y="36091"/>
                    <a:pt x="22003" y="22003"/>
                  </a:cubicBezTo>
                  <a:cubicBezTo>
                    <a:pt x="36091" y="7915"/>
                    <a:pt x="55198" y="0"/>
                    <a:pt x="75122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00355" cy="24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03554" y="3497194"/>
            <a:ext cx="5180103" cy="463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📅</a:t>
            </a: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Short-Term (0-6 months):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Collect additional datasets to validate fairness.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Test alternative fairness-aware algorithms.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Conduct expert interviews.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88014" y="3497194"/>
            <a:ext cx="4609302" cy="514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📅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Medium-Term (6-12 months):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Develop a standardized fairness assessment framework.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Host stakeholder discussions.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Implement human in the loop decision making.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32043" y="3497194"/>
            <a:ext cx="4795224" cy="411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📅 Long-Term (+12 months):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Implement adaptive fairness models.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Expand research to finance &amp; healthcare AI.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Advocate for ethical AI deployment policies.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08956" y="2387977"/>
            <a:ext cx="14862783" cy="6870323"/>
            <a:chOff x="0" y="0"/>
            <a:chExt cx="4808252" cy="22226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08252" cy="2222615"/>
            </a:xfrm>
            <a:custGeom>
              <a:avLst/>
              <a:gdLst/>
              <a:ahLst/>
              <a:cxnLst/>
              <a:rect r="r" b="b" t="t" l="l"/>
              <a:pathLst>
                <a:path h="2222615" w="4808252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2196049"/>
                  </a:lnTo>
                  <a:cubicBezTo>
                    <a:pt x="4808252" y="2203095"/>
                    <a:pt x="4805454" y="2209852"/>
                    <a:pt x="4800471" y="2214834"/>
                  </a:cubicBezTo>
                  <a:cubicBezTo>
                    <a:pt x="4795489" y="2219816"/>
                    <a:pt x="4788733" y="2222615"/>
                    <a:pt x="4781687" y="2222615"/>
                  </a:cubicBezTo>
                  <a:lnTo>
                    <a:pt x="26566" y="2222615"/>
                  </a:lnTo>
                  <a:cubicBezTo>
                    <a:pt x="19520" y="2222615"/>
                    <a:pt x="12763" y="2219816"/>
                    <a:pt x="7781" y="2214834"/>
                  </a:cubicBezTo>
                  <a:cubicBezTo>
                    <a:pt x="2799" y="2209852"/>
                    <a:pt x="0" y="2203095"/>
                    <a:pt x="0" y="2196049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08252" cy="2279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4661" y="34070"/>
            <a:ext cx="9085687" cy="2179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6"/>
              </a:lnSpc>
            </a:pPr>
            <a:r>
              <a:rPr lang="en-US" b="true" sz="60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NEXT STEPS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90396" y="4396105"/>
            <a:ext cx="12907209" cy="238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“AI fairness isn’t a feature—it’s a responsibility.”</a:t>
            </a:r>
          </a:p>
          <a:p>
            <a:pPr algn="ctr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Combine technical solutions &amp; stakeholder collaboration.</a:t>
            </a:r>
          </a:p>
          <a:p>
            <a:pPr algn="ctr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 research findings into fairness-aware AI policies.</a:t>
            </a:r>
          </a:p>
          <a:p>
            <a:pPr algn="ctr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🚀 Next Steps: Apply fairness constraints, advocate AI ethics.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17684" y="2610822"/>
            <a:ext cx="10252632" cy="503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44"/>
              </a:lnSpc>
            </a:pPr>
            <a:r>
              <a:rPr lang="en-US" b="true" sz="1700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DAGd-bBDjZI</dc:identifier>
  <dcterms:modified xsi:type="dcterms:W3CDTF">2011-08-01T06:04:30Z</dcterms:modified>
  <cp:revision>1</cp:revision>
  <dc:title>Crp-Omar Abuhassan</dc:title>
</cp:coreProperties>
</file>